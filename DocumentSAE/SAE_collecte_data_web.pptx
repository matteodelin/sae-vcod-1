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6" r:id="rId2"/>
    <p:sldId id="361" r:id="rId3"/>
    <p:sldId id="372" r:id="rId4"/>
    <p:sldId id="373" r:id="rId5"/>
    <p:sldId id="375" r:id="rId6"/>
    <p:sldId id="374" r:id="rId7"/>
    <p:sldId id="376" r:id="rId8"/>
    <p:sldId id="377" r:id="rId9"/>
    <p:sldId id="378" r:id="rId10"/>
    <p:sldId id="382" r:id="rId11"/>
    <p:sldId id="379" r:id="rId12"/>
    <p:sldId id="380" r:id="rId13"/>
    <p:sldId id="381" r:id="rId14"/>
    <p:sldId id="38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04FD0-D4F7-4458-B81B-793E69B065D9}" v="115" dt="2023-10-15T22:48:22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19"/>
    <p:restoredTop sz="96327"/>
  </p:normalViewPr>
  <p:slideViewPr>
    <p:cSldViewPr snapToGrid="0" snapToObjects="1">
      <p:cViewPr varScale="1">
        <p:scale>
          <a:sx n="79" d="100"/>
          <a:sy n="79" d="100"/>
        </p:scale>
        <p:origin x="7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2D4BD5-1306-6539-2EC0-E544B1C0E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6591F-D22F-BE20-38FA-F0C1C8A2C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AD1FDF-ECD0-8B60-F414-C248A5ED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A3AB09-9120-DEEF-A298-604FE1266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DA7022-E568-CEFE-86EE-A44082CF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666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58BFA8-5604-3E01-DD3F-F469F9EF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3B3C3-9E7A-EDB3-65F5-6827A7B13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47B62F-653B-BFA9-2521-8C3C01A87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C6625F-B38A-2F4B-F257-D6B51A47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70CE14-AF1D-F142-ADEC-4720458B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494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4DEFD-B278-9380-269F-B5371E63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256C69-66E4-AC1F-F547-54BEC3840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645280-2968-58B0-B026-CB6EB1B7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F42C8A-1BDA-5270-16FA-8AC5C8F4E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41700E-9E3F-05C3-DD7F-BFC6B2B2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159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DBF490-42F3-81BE-5DFB-7076DA8BA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D300B9-0DB5-BA48-64DA-BA6E1259AD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F0514A-573E-7B49-BF54-18BA5AE27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FA5654-37A3-03D4-D5BB-0B1A5671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01BC7B-2113-6C1B-2EB4-203C1E553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57B9DD-276D-10C4-8E92-585E422C0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8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356761-229C-5479-BB0F-6A8732DCB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BD622A-DF77-D012-5C91-5647D5FCC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2DAC1EB-7B71-023B-D469-134A43DDC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9D60B06-0170-99D7-30DC-E83A1CF1D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C1F16C1-FBFC-FE9B-6DE1-5F1A31D63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09C8A5-D9FC-732E-1F46-FE5636DC0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702E61-9815-3A2C-3A9D-0A3548C9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80E5291-C7CF-204B-9239-0E1C869C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51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49350-7EA4-DE01-5DC2-0E3CD11EC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483E14-7B81-B041-F1F4-0E3722FE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7F75433-7F96-A62A-09EF-3D011943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6FB5888-AB56-DBC4-262F-2DCCA2CD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7212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366FB20-42BD-8BCE-D771-F89AA0D83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B46DE1-318C-3EC9-29FB-1DCFE4F3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EE3EF6-B0F7-D957-8B73-27E069A3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37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2D5EC4-B4E8-26AF-3920-FE03E54D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8FB46-1E7A-A33B-06CF-9863E1D7B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8B99C25-5885-4A75-0D60-8DA5D784F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BF6F21-BE5D-985F-61B8-A6626319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649643-E399-EA1E-E942-302275D0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760BC9-F362-F9A3-56A8-9E97BBD6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75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078C37-B6F9-6B62-0EEC-C19F0FDD8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382A359-EAFC-73D1-5DA3-CEBFF19EC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BA2F33-7CD7-0055-FF92-38C32B2A1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B5CE71-F89A-A4A0-156E-FDEBE074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4372AF-5114-9E2C-B08B-DC8F1A59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A198E1A-7C87-9013-5D1A-81A312C26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0144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351A71-65E7-61CA-BC91-82772242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BC628D-1A0A-5AB9-9056-2D53F8974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B10883-F3A5-BFEE-5187-241C2A70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507A84-421A-D343-382E-797187C90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C1848C9-9EF6-1B99-3ACD-5B18B300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591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6BCE7E-6FDD-72AD-33BF-99388595D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A01E3A-AD48-57C4-8F7A-FDEC8EDCD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30AD29-6771-2974-CCAB-49BD11195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26F67A-E5D7-7FCC-1A52-81A64B40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452020-7F7B-892C-9139-ADA467357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5954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-121919" y="-66502"/>
            <a:ext cx="12446924" cy="69910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69987"/>
            <a:ext cx="5181600" cy="5006976"/>
          </a:xfrm>
        </p:spPr>
        <p:txBody>
          <a:bodyPr>
            <a:normAutofit/>
          </a:bodyPr>
          <a:lstStyle>
            <a:lvl1pPr>
              <a:buClr>
                <a:srgbClr val="009BB9"/>
              </a:buClr>
              <a:defRPr sz="2000"/>
            </a:lvl1pPr>
            <a:lvl2pPr>
              <a:buClr>
                <a:srgbClr val="009BB9"/>
              </a:buClr>
              <a:defRPr sz="1800"/>
            </a:lvl2pPr>
            <a:lvl3pPr>
              <a:buClr>
                <a:srgbClr val="009BB9"/>
              </a:buClr>
              <a:defRPr sz="1600"/>
            </a:lvl3pPr>
            <a:lvl4pPr>
              <a:buClr>
                <a:srgbClr val="009BB9"/>
              </a:buClr>
              <a:defRPr sz="1400"/>
            </a:lvl4pPr>
            <a:lvl5pPr>
              <a:buClr>
                <a:srgbClr val="009BB9"/>
              </a:buCl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69987"/>
            <a:ext cx="5181600" cy="5006976"/>
          </a:xfrm>
        </p:spPr>
        <p:txBody>
          <a:bodyPr>
            <a:normAutofit/>
          </a:bodyPr>
          <a:lstStyle>
            <a:lvl1pPr>
              <a:buClr>
                <a:srgbClr val="009BB9"/>
              </a:buClr>
              <a:defRPr sz="2000"/>
            </a:lvl1pPr>
            <a:lvl2pPr>
              <a:buClr>
                <a:srgbClr val="009BB9"/>
              </a:buClr>
              <a:defRPr sz="1800"/>
            </a:lvl2pPr>
            <a:lvl3pPr>
              <a:buClr>
                <a:srgbClr val="009BB9"/>
              </a:buClr>
              <a:defRPr sz="1600"/>
            </a:lvl3pPr>
            <a:lvl4pPr>
              <a:buClr>
                <a:srgbClr val="009BB9"/>
              </a:buClr>
              <a:defRPr sz="1400"/>
            </a:lvl4pPr>
            <a:lvl5pPr>
              <a:buClr>
                <a:srgbClr val="009BB9"/>
              </a:buClr>
              <a:defRPr sz="14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441327"/>
            <a:ext cx="10515600" cy="54927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>
                <a:latin typeface="Bebas Neue Bold" panose="020B0606020202050201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838200" y="351684"/>
            <a:ext cx="10515600" cy="0"/>
          </a:xfrm>
          <a:prstGeom prst="line">
            <a:avLst/>
          </a:prstGeom>
          <a:ln w="76200">
            <a:solidFill>
              <a:srgbClr val="009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9789" y="6356352"/>
            <a:ext cx="7066511" cy="365125"/>
          </a:xfr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fld id="{1C22D88C-696E-6246-92FC-6B69D6EC3152}" type="slidenum">
              <a:rPr lang="fr-FR" smtClean="0"/>
              <a:t>‹N°›</a:t>
            </a:fld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0845"/>
            <a:ext cx="1023657" cy="102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23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e de tit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-2900384"/>
            <a:ext cx="13076154" cy="8717435"/>
          </a:xfrm>
          <a:prstGeom prst="rect">
            <a:avLst/>
          </a:prstGeom>
          <a:blipFill dpi="0" rotWithShape="1">
            <a:blip r:embed="rId2" cstate="print">
              <a:alphaModFix amt="3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7023643" y="6256916"/>
            <a:ext cx="5392891" cy="351138"/>
          </a:xfrm>
          <a:prstGeom prst="rect">
            <a:avLst/>
          </a:prstGeom>
          <a:solidFill>
            <a:srgbClr val="009BB9"/>
          </a:solidFill>
          <a:ln>
            <a:solidFill>
              <a:srgbClr val="009BB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45536" y="2735957"/>
            <a:ext cx="11903675" cy="1755013"/>
          </a:xfrm>
          <a:prstGeom prst="rect">
            <a:avLst/>
          </a:prstGeom>
          <a:solidFill>
            <a:schemeClr val="bg1">
              <a:alpha val="85098"/>
            </a:schemeClr>
          </a:solidFill>
        </p:spPr>
        <p:txBody>
          <a:bodyPr anchor="ctr">
            <a:normAutofit/>
          </a:bodyPr>
          <a:lstStyle>
            <a:lvl1pPr algn="l">
              <a:defRPr sz="4800" b="1" baseline="0">
                <a:solidFill>
                  <a:srgbClr val="009BB9"/>
                </a:solidFill>
                <a:latin typeface="Bebas Neue Bold" panose="020B0606020202050201" pitchFamily="34" charset="0"/>
              </a:defRPr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9" name="Connecteur droit 8"/>
          <p:cNvCxnSpPr/>
          <p:nvPr/>
        </p:nvCxnSpPr>
        <p:spPr>
          <a:xfrm>
            <a:off x="145537" y="2563553"/>
            <a:ext cx="4058164" cy="0"/>
          </a:xfrm>
          <a:prstGeom prst="line">
            <a:avLst/>
          </a:prstGeom>
          <a:ln w="76200">
            <a:solidFill>
              <a:srgbClr val="009BB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0145271" y="6278668"/>
            <a:ext cx="21035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bg1"/>
                </a:solidFill>
              </a:rPr>
              <a:t>@IUTLumiereLyon2</a:t>
            </a: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617" y="6335912"/>
            <a:ext cx="288000" cy="2160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071" y="6335912"/>
            <a:ext cx="288000" cy="216000"/>
          </a:xfrm>
          <a:prstGeom prst="rect">
            <a:avLst/>
          </a:prstGeom>
        </p:spPr>
      </p:pic>
      <p:sp>
        <p:nvSpPr>
          <p:cNvPr id="22" name="ZoneTexte 21"/>
          <p:cNvSpPr txBox="1"/>
          <p:nvPr/>
        </p:nvSpPr>
        <p:spPr>
          <a:xfrm>
            <a:off x="7592571" y="6278574"/>
            <a:ext cx="164633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chemeClr val="bg1"/>
                </a:solidFill>
              </a:rPr>
              <a:t>iut.univ-lyon2.fr</a:t>
            </a:r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692" y="6247436"/>
            <a:ext cx="694051" cy="360619"/>
          </a:xfrm>
          <a:prstGeom prst="rect">
            <a:avLst/>
          </a:prstGeom>
        </p:spPr>
      </p:pic>
      <p:sp>
        <p:nvSpPr>
          <p:cNvPr id="25" name="Espace réservé du texte 24"/>
          <p:cNvSpPr>
            <a:spLocks noGrp="1"/>
          </p:cNvSpPr>
          <p:nvPr>
            <p:ph type="body" sz="quarter" idx="10" hasCustomPrompt="1"/>
          </p:nvPr>
        </p:nvSpPr>
        <p:spPr>
          <a:xfrm>
            <a:off x="7028593" y="5939633"/>
            <a:ext cx="5296759" cy="232567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aseline="0">
                <a:solidFill>
                  <a:srgbClr val="009BB9"/>
                </a:solidFill>
              </a:defRPr>
            </a:lvl1pPr>
          </a:lstStyle>
          <a:p>
            <a:pPr lvl="0"/>
            <a:r>
              <a:rPr lang="fr-FR" dirty="0"/>
              <a:t>Date · Lieu de la présentation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36" y="156012"/>
            <a:ext cx="2315123" cy="2315123"/>
          </a:xfrm>
          <a:prstGeom prst="rect">
            <a:avLst/>
          </a:prstGeom>
        </p:spPr>
      </p:pic>
      <p:sp>
        <p:nvSpPr>
          <p:cNvPr id="7" name="Espace réservé du texte 6"/>
          <p:cNvSpPr>
            <a:spLocks noGrp="1"/>
          </p:cNvSpPr>
          <p:nvPr>
            <p:ph type="body" sz="quarter" idx="11" hasCustomPrompt="1"/>
          </p:nvPr>
        </p:nvSpPr>
        <p:spPr>
          <a:xfrm>
            <a:off x="145536" y="4583388"/>
            <a:ext cx="11903589" cy="892175"/>
          </a:xfrm>
          <a:solidFill>
            <a:srgbClr val="FFFFFF">
              <a:alpha val="85098"/>
            </a:srgbClr>
          </a:solidFill>
        </p:spPr>
        <p:txBody>
          <a:bodyPr anchor="ctr">
            <a:normAutofit/>
          </a:bodyPr>
          <a:lstStyle>
            <a:lvl1pPr marL="0" indent="0">
              <a:buNone/>
              <a:defRPr sz="2400" baseline="0"/>
            </a:lvl1pPr>
          </a:lstStyle>
          <a:p>
            <a:pPr lvl="0"/>
            <a:r>
              <a:rPr lang="fr-FR" dirty="0"/>
              <a:t>Nom de l’intervenant - Fonction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473" y="5928058"/>
            <a:ext cx="1529077" cy="799396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804" y="5881164"/>
            <a:ext cx="860163" cy="9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E31CEB-7CDD-37B6-CF8D-98051591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62C4765-EAE9-824E-50AE-431912668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9D0FBA-6E99-4B5B-F641-3EFB8C266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1B850-00A0-C742-A4DD-2BBAA32A9A05}" type="datetimeFigureOut">
              <a:rPr lang="fr-FR" smtClean="0"/>
              <a:t>16/12/2025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3C65F2-7A87-787E-12D8-F227A710B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991BE8-5C87-B93A-B7E7-81D90AACD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B6577D-3997-424D-B1B2-DD9DD7A179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00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soup.org/" TargetMode="External"/><Relationship Id="rId2" Type="http://schemas.openxmlformats.org/officeDocument/2006/relationships/hyperlink" Target="https://htmlunit.sourceforge.io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zenrows.com/blog/java-web-scraping-library#htmleasy" TargetMode="External"/><Relationship Id="rId4" Type="http://schemas.openxmlformats.org/officeDocument/2006/relationships/hyperlink" Target="https://webmagic.io/e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robots.txt" TargetMode="External"/><Relationship Id="rId2" Type="http://schemas.openxmlformats.org/officeDocument/2006/relationships/hyperlink" Target="https://www.google.com/robots.txt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twitter.com/robots.tx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enrows.com/blog/java-html-parser-jsoup#export-data-to-csv" TargetMode="External"/><Relationship Id="rId2" Type="http://schemas.openxmlformats.org/officeDocument/2006/relationships/hyperlink" Target="https://www.scrapingcourse.com/ecommerce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baeldung.com/java-with-jsoup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D1C6E-A09E-4D44-B13C-C12C354C89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SAé3.VCOD.01 – Collecte Automatisée de données web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91C9B45-55A1-BD40-B72C-2388A86FE3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/>
              <a:t>l’année 2025-26</a:t>
            </a:r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8ED168-C188-164A-8FFD-857AFCECFA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Boubou Thiam NIANG</a:t>
            </a:r>
          </a:p>
        </p:txBody>
      </p:sp>
    </p:spTree>
    <p:extLst>
      <p:ext uri="{BB962C8B-B14F-4D97-AF65-F5344CB8AC3E}">
        <p14:creationId xmlns:p14="http://schemas.microsoft.com/office/powerpoint/2010/main" val="75329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800" dirty="0"/>
              <a:t>Nom couramment utilisé </a:t>
            </a:r>
          </a:p>
          <a:p>
            <a:pPr lvl="1"/>
            <a:r>
              <a:rPr lang="fr-FR" sz="2400" dirty="0" err="1"/>
              <a:t>Scraping</a:t>
            </a:r>
            <a:r>
              <a:rPr lang="fr-FR" sz="2400" dirty="0"/>
              <a:t> web  (grattage web) </a:t>
            </a:r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Collectes AUTOMATISEE de DONNEE WEB – </a:t>
            </a:r>
            <a:r>
              <a:rPr lang="fr-FR" dirty="0" err="1"/>
              <a:t>SCRaPING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3983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800" dirty="0"/>
              <a:t>Définition: </a:t>
            </a:r>
          </a:p>
          <a:p>
            <a:pPr lvl="1"/>
            <a:r>
              <a:rPr lang="fr-FR" sz="2000" dirty="0"/>
              <a:t>technique automatisée permettant d'extraire des informations à partir de sites web</a:t>
            </a:r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r>
              <a:rPr lang="fr-FR" sz="2200" dirty="0"/>
              <a:t>En d’autres termes</a:t>
            </a:r>
          </a:p>
          <a:p>
            <a:pPr lvl="1"/>
            <a:r>
              <a:rPr lang="fr-FR" sz="2000" dirty="0"/>
              <a:t>Simule la recherche d’info qu’on effectuerait manuellement</a:t>
            </a:r>
          </a:p>
          <a:p>
            <a:pPr marL="0" indent="0">
              <a:buNone/>
            </a:pPr>
            <a:endParaRPr lang="fr-FR" sz="2400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Scraping</a:t>
            </a:r>
            <a:r>
              <a:rPr lang="fr-FR" dirty="0"/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463037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800" dirty="0"/>
              <a:t>Définition: </a:t>
            </a:r>
          </a:p>
          <a:p>
            <a:pPr lvl="1"/>
            <a:r>
              <a:rPr lang="fr-FR" sz="2000" dirty="0"/>
              <a:t>technique automatisée permettant d'extraire des informations à partir de sites web</a:t>
            </a:r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r>
              <a:rPr lang="fr-FR" sz="2200" dirty="0"/>
              <a:t>En d’autres termes</a:t>
            </a:r>
          </a:p>
          <a:p>
            <a:pPr lvl="1"/>
            <a:r>
              <a:rPr lang="fr-FR" sz="2000" dirty="0"/>
              <a:t>Simule la recherche d’info qu’on effectuerait manuellement</a:t>
            </a:r>
          </a:p>
          <a:p>
            <a:pPr marL="0" indent="0">
              <a:buNone/>
            </a:pPr>
            <a:endParaRPr lang="fr-FR" sz="2400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Quelques cas d’usages:</a:t>
            </a:r>
          </a:p>
          <a:p>
            <a:pPr lvl="1"/>
            <a:r>
              <a:rPr lang="fr-FR" b="1" dirty="0"/>
              <a:t>Scraper des actualités</a:t>
            </a:r>
          </a:p>
          <a:p>
            <a:pPr marL="457200" lvl="1" indent="0">
              <a:buNone/>
            </a:pPr>
            <a:r>
              <a:rPr lang="fr-FR" dirty="0"/>
              <a:t>Collecter des titres, des articles et des informations à partir de sites d'actualités populaires.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b="1" dirty="0"/>
              <a:t>Analyse de prix en ligne :</a:t>
            </a:r>
            <a:r>
              <a:rPr lang="fr-FR" dirty="0"/>
              <a:t> </a:t>
            </a:r>
          </a:p>
          <a:p>
            <a:pPr marL="457200" lvl="1" indent="0">
              <a:buNone/>
            </a:pPr>
            <a:r>
              <a:rPr lang="fr-FR" dirty="0"/>
              <a:t>Créer un scraper pour collecter les prix de produits sur plusieurs sites de commerce électronique</a:t>
            </a:r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b="1" dirty="0"/>
              <a:t>Suivi des médias sociaux :</a:t>
            </a:r>
            <a:r>
              <a:rPr lang="fr-FR" dirty="0"/>
              <a:t> </a:t>
            </a:r>
          </a:p>
          <a:p>
            <a:pPr marL="457200" lvl="1" indent="0">
              <a:buNone/>
            </a:pPr>
            <a:r>
              <a:rPr lang="fr-FR" dirty="0"/>
              <a:t>Récupérer des données à partir de profils sociaux comme Twitter, Instagram ou Facebook pour analyser les tendances, la fréquence des publications ou les interactions.</a:t>
            </a:r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Scraping</a:t>
            </a:r>
            <a:r>
              <a:rPr lang="fr-FR" dirty="0"/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238190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fr-FR" sz="2800" dirty="0"/>
              <a:t>Définition: </a:t>
            </a:r>
          </a:p>
          <a:p>
            <a:pPr lvl="1"/>
            <a:r>
              <a:rPr lang="fr-FR" sz="2000" dirty="0"/>
              <a:t>technique automatisée permettant d'extraire des informations à partir de sites web</a:t>
            </a:r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r>
              <a:rPr lang="fr-FR" sz="2200" dirty="0"/>
              <a:t>En d’autres termes</a:t>
            </a:r>
          </a:p>
          <a:p>
            <a:pPr lvl="1"/>
            <a:r>
              <a:rPr lang="fr-FR" sz="2000" dirty="0"/>
              <a:t>Simule la recherche d’info qu’on effectuerait manuellement</a:t>
            </a:r>
          </a:p>
          <a:p>
            <a:pPr marL="0" indent="0">
              <a:buNone/>
            </a:pPr>
            <a:endParaRPr lang="fr-FR" sz="2400" dirty="0"/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cas d’usages:</a:t>
            </a:r>
          </a:p>
          <a:p>
            <a:pPr lvl="1"/>
            <a:r>
              <a:rPr lang="fr-FR" b="1" dirty="0" err="1"/>
              <a:t>Scraping</a:t>
            </a:r>
            <a:r>
              <a:rPr lang="fr-FR" b="1" dirty="0"/>
              <a:t> de données météorologiques</a:t>
            </a:r>
          </a:p>
          <a:p>
            <a:pPr marL="457200" lvl="1" indent="0">
              <a:buNone/>
            </a:pPr>
            <a:r>
              <a:rPr lang="fr-FR" dirty="0"/>
              <a:t>Collecter des informations sur les conditions météorologiques à partir de différents sites pour fournir des prévisions ou des analyses.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b="1" dirty="0"/>
              <a:t>Suivi des offres d'emploi :</a:t>
            </a:r>
            <a:r>
              <a:rPr lang="fr-FR" dirty="0"/>
              <a:t> </a:t>
            </a:r>
          </a:p>
          <a:p>
            <a:pPr marL="457200" lvl="1" indent="0">
              <a:buNone/>
            </a:pPr>
            <a:r>
              <a:rPr lang="fr-FR" dirty="0" err="1"/>
              <a:t>Scraping</a:t>
            </a:r>
            <a:r>
              <a:rPr lang="fr-FR" dirty="0"/>
              <a:t> des sites d'emploi pour collecter des offres correspondant à certains critères, les trier ou les analyser.</a:t>
            </a:r>
          </a:p>
          <a:p>
            <a:pPr marL="457200" lvl="1" indent="0">
              <a:buNone/>
            </a:pPr>
            <a:endParaRPr lang="fr-FR" b="1" dirty="0"/>
          </a:p>
          <a:p>
            <a:pPr lvl="1"/>
            <a:r>
              <a:rPr lang="fr-FR" b="1" dirty="0"/>
              <a:t>Statistique des joueurs de foot </a:t>
            </a:r>
          </a:p>
          <a:p>
            <a:pPr marL="457200" lvl="1" indent="0">
              <a:buNone/>
            </a:pPr>
            <a:endParaRPr lang="fr-FR" b="1" dirty="0"/>
          </a:p>
          <a:p>
            <a:pPr lvl="1"/>
            <a:r>
              <a:rPr lang="fr-FR" b="1" dirty="0"/>
              <a:t>Tendance jeux vidéo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Scraping</a:t>
            </a:r>
            <a:r>
              <a:rPr lang="fr-FR" dirty="0"/>
              <a:t> web</a:t>
            </a:r>
          </a:p>
        </p:txBody>
      </p:sp>
    </p:spTree>
    <p:extLst>
      <p:ext uri="{BB962C8B-B14F-4D97-AF65-F5344CB8AC3E}">
        <p14:creationId xmlns:p14="http://schemas.microsoft.com/office/powerpoint/2010/main" val="3109286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Identification des Sources de Données</a:t>
            </a:r>
          </a:p>
          <a:p>
            <a:pPr lvl="1"/>
            <a:r>
              <a:rPr lang="fr-FR" dirty="0"/>
              <a:t>Déterminez les Sites Cibles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Collecte des Informations</a:t>
            </a:r>
          </a:p>
          <a:p>
            <a:pPr lvl="1"/>
            <a:r>
              <a:rPr lang="en-US" dirty="0" err="1"/>
              <a:t>Accès</a:t>
            </a:r>
            <a:r>
              <a:rPr lang="en-US" dirty="0"/>
              <a:t> aux Pages Web</a:t>
            </a:r>
            <a:endParaRPr lang="fr-FR" dirty="0"/>
          </a:p>
          <a:p>
            <a:pPr lvl="1"/>
            <a:r>
              <a:rPr lang="en-US" dirty="0" err="1"/>
              <a:t>Récupération</a:t>
            </a:r>
            <a:r>
              <a:rPr lang="en-US" dirty="0"/>
              <a:t> du </a:t>
            </a:r>
            <a:r>
              <a:rPr lang="en-US" dirty="0" err="1"/>
              <a:t>Contenu</a:t>
            </a:r>
            <a:r>
              <a:rPr lang="en-US" dirty="0"/>
              <a:t> HTML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Analyse HTML</a:t>
            </a:r>
          </a:p>
          <a:p>
            <a:pPr lvl="1"/>
            <a:r>
              <a:rPr lang="fr-FR" dirty="0"/>
              <a:t>Analyse Structurée à l’aide de librairie pour identifier les balises contenant les données à extraire.</a:t>
            </a:r>
          </a:p>
          <a:p>
            <a:pPr lvl="1"/>
            <a:endParaRPr lang="fr-FR" dirty="0"/>
          </a:p>
          <a:p>
            <a:r>
              <a:rPr lang="en-US" b="1" dirty="0"/>
              <a:t>Extraction des Données</a:t>
            </a:r>
            <a:endParaRPr lang="fr-FR" dirty="0"/>
          </a:p>
          <a:p>
            <a:pPr lvl="1"/>
            <a:r>
              <a:rPr lang="fr-FR" dirty="0"/>
              <a:t>Sélection des Éléments: </a:t>
            </a:r>
          </a:p>
          <a:p>
            <a:pPr marL="457200" lvl="1" indent="0">
              <a:buNone/>
            </a:pPr>
            <a:r>
              <a:rPr lang="fr-FR" dirty="0"/>
              <a:t>Identifiez les éléments HTML (balises, classes, ID) qui contiennent les données recherchées.</a:t>
            </a:r>
          </a:p>
          <a:p>
            <a:pPr lvl="1"/>
            <a:r>
              <a:rPr lang="fr-FR" dirty="0" err="1"/>
              <a:t>Parsing</a:t>
            </a:r>
            <a:r>
              <a:rPr lang="fr-FR" dirty="0"/>
              <a:t> pour extraire les éléments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Nettoyage et Prétraitement</a:t>
            </a:r>
          </a:p>
          <a:p>
            <a:pPr lvl="1"/>
            <a:r>
              <a:rPr lang="fr-FR" dirty="0"/>
              <a:t>Élimination des Données Redondantes : Supprimez les balises HTML, les caractères spéciaux ou autres éléments indésirables.</a:t>
            </a:r>
          </a:p>
          <a:p>
            <a:pPr lvl="1"/>
            <a:r>
              <a:rPr lang="fr-FR" dirty="0"/>
              <a:t>Normalisation des Données : Mettez en forme les données extraites pour qu'elles soient cohérentes et utilisables.</a:t>
            </a:r>
          </a:p>
          <a:p>
            <a:pPr lvl="1"/>
            <a:endParaRPr lang="fr-FR" dirty="0"/>
          </a:p>
          <a:p>
            <a:r>
              <a:rPr lang="fr-FR" b="1" dirty="0"/>
              <a:t>Stockage des Données</a:t>
            </a:r>
          </a:p>
          <a:p>
            <a:pPr lvl="1"/>
            <a:r>
              <a:rPr lang="fr-FR" dirty="0"/>
              <a:t>Choix de la Méthode de Stockage : </a:t>
            </a:r>
          </a:p>
          <a:p>
            <a:pPr marL="457200" lvl="1" indent="0">
              <a:buNone/>
            </a:pPr>
            <a:r>
              <a:rPr lang="fr-FR" dirty="0"/>
              <a:t>Enregistrez les données extraites dans une base de données, un fichier CSV, un JSON, ou tout autre format adapté à vos besoins.</a:t>
            </a:r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Scraping</a:t>
            </a:r>
            <a:r>
              <a:rPr lang="fr-FR" dirty="0"/>
              <a:t> web – Les étapes</a:t>
            </a:r>
          </a:p>
        </p:txBody>
      </p:sp>
    </p:spTree>
    <p:extLst>
      <p:ext uri="{BB962C8B-B14F-4D97-AF65-F5344CB8AC3E}">
        <p14:creationId xmlns:p14="http://schemas.microsoft.com/office/powerpoint/2010/main" val="38819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Quoi: </a:t>
            </a:r>
          </a:p>
          <a:p>
            <a:pPr marL="0" indent="0">
              <a:buNone/>
            </a:pPr>
            <a:r>
              <a:rPr lang="fr-FR" dirty="0"/>
              <a:t>représentation hiérarchique et structurée d'une page web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Principe</a:t>
            </a:r>
            <a:r>
              <a:rPr lang="fr-FR" dirty="0"/>
              <a:t> </a:t>
            </a:r>
          </a:p>
          <a:p>
            <a:pPr lvl="1"/>
            <a:r>
              <a:rPr lang="fr-FR" dirty="0"/>
              <a:t>Hiérarchie Structurée : </a:t>
            </a:r>
          </a:p>
          <a:p>
            <a:pPr marL="457200" lvl="1" indent="0">
              <a:buNone/>
            </a:pPr>
            <a:r>
              <a:rPr lang="fr-FR" dirty="0"/>
              <a:t>Le DOM représente une page web comme une structure arborescente où chaque élément HTML est un nœud (</a:t>
            </a:r>
            <a:r>
              <a:rPr lang="fr-FR" dirty="0" err="1"/>
              <a:t>node</a:t>
            </a:r>
            <a:r>
              <a:rPr lang="fr-FR" dirty="0"/>
              <a:t>).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b="1" dirty="0"/>
              <a:t>Relation Parent-Enfant :</a:t>
            </a:r>
            <a:r>
              <a:rPr lang="fr-FR" dirty="0"/>
              <a:t> </a:t>
            </a:r>
          </a:p>
          <a:p>
            <a:pPr marL="457200" lvl="1" indent="0">
              <a:buNone/>
            </a:pPr>
            <a:r>
              <a:rPr lang="fr-FR" dirty="0"/>
              <a:t>Les éléments HTML sont organisés en une structure parent-enfant.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b="1" dirty="0"/>
              <a:t>Accès aux Éléments : </a:t>
            </a:r>
          </a:p>
          <a:p>
            <a:pPr marL="457200" lvl="1" indent="0">
              <a:buNone/>
            </a:pPr>
            <a:r>
              <a:rPr lang="fr-FR" dirty="0"/>
              <a:t>Le DOM permet d'accéder aux éléments individuels de la page web via des méthodes et des propriétés spécifiques.</a:t>
            </a:r>
          </a:p>
          <a:p>
            <a:pPr marL="457200" lvl="1" indent="0">
              <a:buNone/>
            </a:pPr>
            <a:endParaRPr lang="fr-FR" dirty="0"/>
          </a:p>
          <a:p>
            <a:r>
              <a:rPr lang="fr-FR" b="1" dirty="0"/>
              <a:t>Modifications Dynamiques :</a:t>
            </a:r>
            <a:r>
              <a:rPr lang="fr-FR" dirty="0"/>
              <a:t> En utilisant le DOM, on peut ajouter, supprimer ou modifier des éléments, du contenu, des styles et des attributs d'une page web en temps réel.</a:t>
            </a:r>
          </a:p>
          <a:p>
            <a:endParaRPr lang="fr-FR" dirty="0"/>
          </a:p>
          <a:p>
            <a:pPr marL="0" indent="0">
              <a:buNone/>
            </a:pPr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– DOM (</a:t>
            </a:r>
            <a:r>
              <a:rPr lang="en-US" dirty="0"/>
              <a:t>(Document Object Model)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73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/>
              <a:t>Exemple DOM</a:t>
            </a:r>
          </a:p>
          <a:p>
            <a:pPr marL="0" indent="0">
              <a:buNone/>
            </a:pPr>
            <a:r>
              <a:rPr lang="fr-FR" sz="2000" dirty="0"/>
              <a:t>&lt;!DOCTYPE html&gt;</a:t>
            </a:r>
          </a:p>
          <a:p>
            <a:pPr marL="0" indent="0">
              <a:buNone/>
            </a:pPr>
            <a:r>
              <a:rPr lang="fr-FR" sz="2000" dirty="0"/>
              <a:t>&lt;html&gt;</a:t>
            </a:r>
          </a:p>
          <a:p>
            <a:pPr marL="0" indent="0">
              <a:buNone/>
            </a:pPr>
            <a:r>
              <a:rPr lang="fr-FR" sz="2000" dirty="0"/>
              <a:t>&lt;</a:t>
            </a:r>
            <a:r>
              <a:rPr lang="fr-FR" sz="2000" dirty="0" err="1"/>
              <a:t>head</a:t>
            </a:r>
            <a:r>
              <a:rPr lang="fr-FR" sz="2000" dirty="0"/>
              <a:t>&gt;</a:t>
            </a:r>
          </a:p>
          <a:p>
            <a:pPr marL="0" indent="0">
              <a:buNone/>
            </a:pPr>
            <a:r>
              <a:rPr lang="fr-FR" sz="2000" dirty="0"/>
              <a:t>  &lt;</a:t>
            </a:r>
            <a:r>
              <a:rPr lang="fr-FR" sz="2000" dirty="0" err="1"/>
              <a:t>title</a:t>
            </a:r>
            <a:r>
              <a:rPr lang="fr-FR" sz="2000" dirty="0"/>
              <a:t>&gt;Exemple DOM&lt;/</a:t>
            </a:r>
            <a:r>
              <a:rPr lang="fr-FR" sz="2000" dirty="0" err="1"/>
              <a:t>title</a:t>
            </a:r>
            <a:r>
              <a:rPr lang="fr-FR" sz="2000" dirty="0"/>
              <a:t>&gt;</a:t>
            </a:r>
          </a:p>
          <a:p>
            <a:pPr marL="0" indent="0">
              <a:buNone/>
            </a:pPr>
            <a:r>
              <a:rPr lang="fr-FR" sz="2000" dirty="0"/>
              <a:t>&lt;/</a:t>
            </a:r>
            <a:r>
              <a:rPr lang="fr-FR" sz="2000" dirty="0" err="1"/>
              <a:t>head</a:t>
            </a:r>
            <a:r>
              <a:rPr lang="fr-FR" sz="2000" dirty="0"/>
              <a:t>&gt;</a:t>
            </a:r>
          </a:p>
          <a:p>
            <a:pPr marL="0" indent="0">
              <a:buNone/>
            </a:pPr>
            <a:r>
              <a:rPr lang="fr-FR" sz="2000" dirty="0"/>
              <a:t>&lt;body&gt;</a:t>
            </a:r>
          </a:p>
          <a:p>
            <a:pPr marL="0" indent="0">
              <a:buNone/>
            </a:pPr>
            <a:r>
              <a:rPr lang="fr-FR" sz="2000" dirty="0"/>
              <a:t>  &lt;div id="conteneur"&gt;</a:t>
            </a:r>
          </a:p>
          <a:p>
            <a:pPr marL="0" indent="0">
              <a:buNone/>
            </a:pPr>
            <a:r>
              <a:rPr lang="fr-FR" sz="2000" dirty="0"/>
              <a:t>    &lt;h1&gt;Titre&lt;/h1&gt;</a:t>
            </a:r>
          </a:p>
          <a:p>
            <a:pPr marL="0" indent="0">
              <a:buNone/>
            </a:pPr>
            <a:r>
              <a:rPr lang="fr-FR" sz="2000" dirty="0"/>
              <a:t>    &lt;p&gt;Un paragraphe&lt;/p&gt;</a:t>
            </a:r>
          </a:p>
          <a:p>
            <a:pPr marL="0" indent="0">
              <a:buNone/>
            </a:pPr>
            <a:r>
              <a:rPr lang="fr-FR" sz="2000" dirty="0"/>
              <a:t>  &lt;/div&gt;</a:t>
            </a:r>
          </a:p>
          <a:p>
            <a:pPr marL="0" indent="0">
              <a:buNone/>
            </a:pPr>
            <a:r>
              <a:rPr lang="fr-FR" sz="2000" dirty="0"/>
              <a:t>&lt;/body&gt;</a:t>
            </a:r>
          </a:p>
          <a:p>
            <a:pPr marL="0" indent="0">
              <a:buNone/>
            </a:pPr>
            <a:r>
              <a:rPr lang="fr-FR" sz="2000" dirty="0"/>
              <a:t>&lt;/html&gt;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Prérequis – DOM (</a:t>
            </a:r>
            <a:r>
              <a:rPr lang="en-US" dirty="0"/>
              <a:t>(Document Object Model)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037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Quelques librairies Java  </a:t>
            </a:r>
          </a:p>
          <a:p>
            <a:pPr lvl="1"/>
            <a:r>
              <a:rPr lang="fr-FR" dirty="0" err="1"/>
              <a:t>HtmlUnit</a:t>
            </a:r>
            <a:r>
              <a:rPr lang="fr-FR" dirty="0"/>
              <a:t> (utilisé dans ce TD)</a:t>
            </a:r>
          </a:p>
          <a:p>
            <a:pPr lvl="2"/>
            <a:r>
              <a:rPr lang="fr-FR" dirty="0">
                <a:hlinkClick r:id="rId2"/>
              </a:rPr>
              <a:t>https://htmlunit.sourceforge.io/</a:t>
            </a:r>
            <a:endParaRPr lang="fr-FR" dirty="0"/>
          </a:p>
          <a:p>
            <a:pPr marL="914400" lvl="2" indent="0">
              <a:buNone/>
            </a:pPr>
            <a:endParaRPr lang="fr-FR" dirty="0"/>
          </a:p>
          <a:p>
            <a:pPr lvl="1"/>
            <a:r>
              <a:rPr lang="fr-FR" dirty="0" err="1"/>
              <a:t>Jsoup</a:t>
            </a:r>
            <a:endParaRPr lang="fr-FR" dirty="0"/>
          </a:p>
          <a:p>
            <a:pPr lvl="2"/>
            <a:r>
              <a:rPr lang="fr-FR" dirty="0">
                <a:hlinkClick r:id="rId3"/>
              </a:rPr>
              <a:t>https://jsoup.org/</a:t>
            </a:r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 err="1"/>
              <a:t>WebMagic</a:t>
            </a:r>
            <a:endParaRPr lang="fr-FR" dirty="0"/>
          </a:p>
          <a:p>
            <a:pPr lvl="2"/>
            <a:r>
              <a:rPr lang="fr-FR" dirty="0">
                <a:hlinkClick r:id="rId4"/>
              </a:rPr>
              <a:t>https://webmagic.io/en/</a:t>
            </a:r>
            <a:endParaRPr lang="fr-FR" dirty="0"/>
          </a:p>
          <a:p>
            <a:pPr marL="914400" lvl="2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Vous pouvez explorer d’autre</a:t>
            </a:r>
          </a:p>
          <a:p>
            <a:pPr lvl="1"/>
            <a:r>
              <a:rPr lang="fr-FR" dirty="0"/>
              <a:t>Exemple de comparatif  (soyez curieux)</a:t>
            </a:r>
          </a:p>
          <a:p>
            <a:pPr lvl="2"/>
            <a:r>
              <a:rPr lang="fr-FR" dirty="0">
                <a:hlinkClick r:id="rId5"/>
              </a:rPr>
              <a:t>https://www.zenrows.com/blog/java-web-scraping-library#htmleasy</a:t>
            </a:r>
            <a:endParaRPr lang="fr-FR" dirty="0"/>
          </a:p>
          <a:p>
            <a:pPr lvl="2"/>
            <a:endParaRPr lang="fr-FR" dirty="0"/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Librairies JAVA – Pour le </a:t>
            </a:r>
            <a:r>
              <a:rPr lang="fr-FR" dirty="0" err="1"/>
              <a:t>scrping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29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Légalité </a:t>
            </a:r>
          </a:p>
          <a:p>
            <a:pPr lvl="1"/>
            <a:r>
              <a:rPr lang="fr-FR" dirty="0"/>
              <a:t>Considérer page avec les données en accès libre (sans login)</a:t>
            </a:r>
          </a:p>
          <a:p>
            <a:pPr lvl="1"/>
            <a:endParaRPr lang="fr-FR" dirty="0"/>
          </a:p>
          <a:p>
            <a:pPr lvl="1"/>
            <a:r>
              <a:rPr lang="fr-FR" dirty="0">
                <a:solidFill>
                  <a:srgbClr val="FF0000"/>
                </a:solidFill>
              </a:rPr>
              <a:t>Vérifier le fichier systématiquement les fichier </a:t>
            </a:r>
            <a:r>
              <a:rPr lang="fr-FR" b="1" dirty="0">
                <a:solidFill>
                  <a:srgbClr val="FF0000"/>
                </a:solidFill>
              </a:rPr>
              <a:t>robot.txt </a:t>
            </a:r>
            <a:r>
              <a:rPr lang="fr-FR" dirty="0">
                <a:solidFill>
                  <a:srgbClr val="FF0000"/>
                </a:solidFill>
              </a:rPr>
              <a:t>s’il y en a </a:t>
            </a:r>
          </a:p>
          <a:p>
            <a:pPr lvl="2"/>
            <a:r>
              <a:rPr lang="fr-FR" dirty="0"/>
              <a:t>Exemple en live:</a:t>
            </a:r>
          </a:p>
          <a:p>
            <a:pPr marL="914400" lvl="2" indent="0">
              <a:buNone/>
            </a:pPr>
            <a:r>
              <a:rPr lang="fr-FR" dirty="0">
                <a:hlinkClick r:id="rId2"/>
              </a:rPr>
              <a:t>https://www.google.com/robots.txt</a:t>
            </a:r>
            <a:endParaRPr lang="fr-FR" dirty="0"/>
          </a:p>
          <a:p>
            <a:pPr marL="914400" lvl="2" indent="0">
              <a:buNone/>
            </a:pPr>
            <a:r>
              <a:rPr lang="fr-FR" dirty="0">
                <a:hlinkClick r:id="rId3"/>
              </a:rPr>
              <a:t>https://www.facebook.com/robots.txt</a:t>
            </a:r>
            <a:endParaRPr lang="fr-FR" dirty="0"/>
          </a:p>
          <a:p>
            <a:pPr marL="914400" lvl="2" indent="0">
              <a:buNone/>
            </a:pPr>
            <a:r>
              <a:rPr lang="fr-FR" dirty="0">
                <a:hlinkClick r:id="rId4"/>
              </a:rPr>
              <a:t>https://twitter.com/robots.txt</a:t>
            </a:r>
            <a:endParaRPr lang="fr-FR" dirty="0"/>
          </a:p>
          <a:p>
            <a:pPr marL="914400" lvl="2" indent="0">
              <a:buNone/>
            </a:pPr>
            <a:endParaRPr lang="fr-FR" dirty="0"/>
          </a:p>
          <a:p>
            <a:pPr lvl="1"/>
            <a:r>
              <a:rPr lang="fr-FR" dirty="0">
                <a:solidFill>
                  <a:srgbClr val="FF0000"/>
                </a:solidFill>
              </a:rPr>
              <a:t>Lire les conditions générales s’il y ’en a </a:t>
            </a:r>
          </a:p>
          <a:p>
            <a:pPr marL="914400" lvl="2" indent="0">
              <a:buNone/>
            </a:pPr>
            <a:endParaRPr lang="fr-FR" dirty="0"/>
          </a:p>
          <a:p>
            <a:pPr marL="914400" lvl="2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0000"/>
                </a:solidFill>
              </a:rPr>
              <a:t>Avertissement – Légalité - Attention</a:t>
            </a:r>
          </a:p>
        </p:txBody>
      </p:sp>
    </p:spTree>
    <p:extLst>
      <p:ext uri="{BB962C8B-B14F-4D97-AF65-F5344CB8AC3E}">
        <p14:creationId xmlns:p14="http://schemas.microsoft.com/office/powerpoint/2010/main" val="2014556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En live</a:t>
            </a:r>
          </a:p>
          <a:p>
            <a:pPr lvl="1"/>
            <a:r>
              <a:rPr lang="fr-FR" dirty="0"/>
              <a:t>Site </a:t>
            </a:r>
            <a:r>
              <a:rPr lang="fr-FR" dirty="0">
                <a:hlinkClick r:id="rId2"/>
              </a:rPr>
              <a:t>https://www.scrapingcourse.com/ecommerce</a:t>
            </a:r>
            <a:r>
              <a:rPr lang="fr-FR" dirty="0"/>
              <a:t> 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Suivre ce tutoriel (cas </a:t>
            </a:r>
            <a:r>
              <a:rPr lang="fr-FR" dirty="0" err="1"/>
              <a:t>JSoup</a:t>
            </a:r>
            <a:r>
              <a:rPr lang="fr-FR" dirty="0"/>
              <a:t>): </a:t>
            </a:r>
          </a:p>
          <a:p>
            <a:pPr marL="457200" lvl="1" indent="0">
              <a:buNone/>
            </a:pPr>
            <a:r>
              <a:rPr lang="fr-FR" dirty="0">
                <a:hlinkClick r:id="rId3"/>
              </a:rPr>
              <a:t>https://www.zenrows.com/blog/java-html-parser-jsoup#export-data-to-csv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r>
              <a:rPr lang="fr-FR" dirty="0"/>
              <a:t>Exemple de site pour explication: </a:t>
            </a:r>
          </a:p>
          <a:p>
            <a:pPr marL="457200" lvl="1" indent="0">
              <a:buNone/>
            </a:pPr>
            <a:r>
              <a:rPr lang="fr-FR" dirty="0">
                <a:hlinkClick r:id="rId4"/>
              </a:rPr>
              <a:t>https://www.baeldung.com/java-with-jsoup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pratique de </a:t>
            </a:r>
            <a:r>
              <a:rPr lang="fr-FR" dirty="0" err="1"/>
              <a:t>scrping</a:t>
            </a:r>
            <a:r>
              <a:rPr lang="fr-FR" dirty="0"/>
              <a:t> avec JSOUP</a:t>
            </a:r>
          </a:p>
        </p:txBody>
      </p:sp>
    </p:spTree>
    <p:extLst>
      <p:ext uri="{BB962C8B-B14F-4D97-AF65-F5344CB8AC3E}">
        <p14:creationId xmlns:p14="http://schemas.microsoft.com/office/powerpoint/2010/main" val="2716696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Formation de binôme/trinôme</a:t>
            </a:r>
          </a:p>
          <a:p>
            <a:endParaRPr lang="fr-FR" dirty="0"/>
          </a:p>
          <a:p>
            <a:r>
              <a:rPr lang="fr-FR" dirty="0"/>
              <a:t>Choix d’une thématique </a:t>
            </a:r>
          </a:p>
          <a:p>
            <a:endParaRPr lang="fr-FR" dirty="0"/>
          </a:p>
          <a:p>
            <a:r>
              <a:rPr lang="fr-FR" dirty="0"/>
              <a:t>Etude: qu’est-ce qu’on cherche</a:t>
            </a:r>
          </a:p>
          <a:p>
            <a:endParaRPr lang="fr-FR" dirty="0"/>
          </a:p>
          <a:p>
            <a:r>
              <a:rPr lang="fr-FR" dirty="0"/>
              <a:t>Identification des sites </a:t>
            </a:r>
          </a:p>
          <a:p>
            <a:endParaRPr lang="fr-FR" dirty="0"/>
          </a:p>
          <a:p>
            <a:r>
              <a:rPr lang="fr-FR" dirty="0"/>
              <a:t>Développement </a:t>
            </a:r>
          </a:p>
          <a:p>
            <a:endParaRPr lang="fr-FR" dirty="0"/>
          </a:p>
          <a:p>
            <a:r>
              <a:rPr lang="fr-FR" dirty="0"/>
              <a:t>Stockage </a:t>
            </a:r>
          </a:p>
          <a:p>
            <a:endParaRPr lang="fr-FR" dirty="0"/>
          </a:p>
          <a:p>
            <a:r>
              <a:rPr lang="fr-FR" dirty="0"/>
              <a:t>Analyse – visualisation 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914400" lvl="2" indent="0">
              <a:buNone/>
            </a:pPr>
            <a:endParaRPr lang="fr-FR" dirty="0"/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</a:t>
            </a:r>
          </a:p>
        </p:txBody>
      </p:sp>
    </p:spTree>
    <p:extLst>
      <p:ext uri="{BB962C8B-B14F-4D97-AF65-F5344CB8AC3E}">
        <p14:creationId xmlns:p14="http://schemas.microsoft.com/office/powerpoint/2010/main" val="2966128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6CC8EF7F-490F-EF92-CC36-47D5AD4234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Document </a:t>
            </a:r>
            <a:r>
              <a:rPr lang="fr-FR" dirty="0" err="1"/>
              <a:t>word</a:t>
            </a:r>
            <a:r>
              <a:rPr lang="fr-FR"/>
              <a:t> (3 </a:t>
            </a:r>
            <a:r>
              <a:rPr lang="fr-FR" dirty="0"/>
              <a:t>pages environ)</a:t>
            </a:r>
          </a:p>
          <a:p>
            <a:pPr lvl="1"/>
            <a:r>
              <a:rPr lang="fr-FR" dirty="0"/>
              <a:t>Introduction </a:t>
            </a:r>
          </a:p>
          <a:p>
            <a:pPr lvl="2"/>
            <a:r>
              <a:rPr lang="fr-FR" dirty="0"/>
              <a:t>Motivation de la thématique choisie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dirty="0"/>
              <a:t>Liste des sites web choisis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Un paragraphe sur la légalité des sites choisit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Résultats</a:t>
            </a:r>
          </a:p>
          <a:p>
            <a:pPr marL="457200" lvl="1" indent="0">
              <a:buNone/>
            </a:pPr>
            <a:endParaRPr lang="fr-FR" dirty="0"/>
          </a:p>
          <a:p>
            <a:pPr lvl="1"/>
            <a:r>
              <a:rPr lang="fr-FR" dirty="0"/>
              <a:t>Conclusion suite à l’analyse </a:t>
            </a:r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44BE2-6830-2476-0132-E0297C8A29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Choix de la librairie</a:t>
            </a:r>
          </a:p>
          <a:p>
            <a:endParaRPr lang="fr-FR" dirty="0"/>
          </a:p>
          <a:p>
            <a:r>
              <a:rPr lang="fr-FR" dirty="0"/>
              <a:t>Code source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Fichier « </a:t>
            </a:r>
            <a:r>
              <a:rPr lang="fr-FR" dirty="0" err="1"/>
              <a:t>readme</a:t>
            </a:r>
            <a:r>
              <a:rPr lang="fr-FR" dirty="0"/>
              <a:t> » avec les étapes pour reproduire </a:t>
            </a:r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792744D0-FAE3-8D3A-506C-56A1DBA96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- </a:t>
            </a:r>
            <a:r>
              <a:rPr lang="fr-FR" dirty="0" err="1"/>
              <a:t>RenDu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9392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CA671-607E-97E3-AD6E-D26B301E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74816C6-F5E1-ECCD-257C-D8947382E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b="1" dirty="0"/>
              <a:t>Notes différentes pour chaque </a:t>
            </a:r>
            <a:r>
              <a:rPr lang="fr-FR" b="1" dirty="0" err="1"/>
              <a:t>mêmebres</a:t>
            </a:r>
            <a:endParaRPr lang="fr-FR" b="1" dirty="0"/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Désignation d'un responsable</a:t>
            </a:r>
            <a:r>
              <a:rPr lang="fr-FR" dirty="0"/>
              <a:t> : Pour certaines étapes du projet, il est nécessaire de désigner un responsable : Collecte*, Traitement*, Analyse + Visualisation*.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Travail collaboratif</a:t>
            </a:r>
            <a:r>
              <a:rPr lang="fr-FR" dirty="0"/>
              <a:t> : Bien que des responsables soient désignés, </a:t>
            </a:r>
            <a:r>
              <a:rPr lang="fr-FR" b="1" dirty="0"/>
              <a:t>tous les membres</a:t>
            </a:r>
            <a:r>
              <a:rPr lang="fr-FR" dirty="0"/>
              <a:t> du groupe doivent participer activement à </a:t>
            </a:r>
            <a:r>
              <a:rPr lang="fr-FR" b="1" dirty="0"/>
              <a:t>toutes les étapes</a:t>
            </a:r>
            <a:r>
              <a:rPr lang="fr-FR" dirty="0"/>
              <a:t> du projet.</a:t>
            </a:r>
          </a:p>
          <a:p>
            <a:pPr marL="457200" indent="-457200">
              <a:buFont typeface="+mj-lt"/>
              <a:buAutoNum type="arabicPeriod"/>
            </a:pPr>
            <a:r>
              <a:rPr lang="fr-FR" b="1" dirty="0"/>
              <a:t>Contribution individuelle</a:t>
            </a:r>
            <a:r>
              <a:rPr lang="fr-FR" dirty="0"/>
              <a:t> : Pour chaque étape, il faut rédiger un paragraphe expliquant la contribution de chaque membre du groupe, en précisant leur </a:t>
            </a:r>
            <a:r>
              <a:rPr lang="fr-FR" b="1" dirty="0"/>
              <a:t>pourcentage d'implication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   * Au moins une de ses étapes pour chacun</a:t>
            </a:r>
          </a:p>
          <a:p>
            <a:pPr marL="0" indent="0">
              <a:buNone/>
            </a:pPr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marL="914400" lvl="2" indent="0">
              <a:buNone/>
            </a:pP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65A3EC-17B2-D7A5-F257-C1014707C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fr-FR" b="1" dirty="0"/>
              <a:t>Binômes uniquement</a:t>
            </a:r>
            <a:r>
              <a:rPr lang="fr-FR" dirty="0"/>
              <a:t> : L'évaluation sera effectuée sur la base d'efforts de </a:t>
            </a:r>
            <a:r>
              <a:rPr lang="fr-FR" b="1" dirty="0"/>
              <a:t>binômes</a:t>
            </a:r>
            <a:r>
              <a:rPr lang="fr-FR" dirty="0"/>
              <a:t> (pas de trinômes ni de monômes).</a:t>
            </a:r>
          </a:p>
          <a:p>
            <a:pPr>
              <a:buFont typeface="+mj-lt"/>
              <a:buAutoNum type="arabicPeriod" startAt="5"/>
            </a:pPr>
            <a:r>
              <a:rPr lang="fr-FR" b="1" dirty="0"/>
              <a:t>Framework Java</a:t>
            </a:r>
            <a:r>
              <a:rPr lang="fr-FR" dirty="0"/>
              <a:t> : Il est obligatoire d'utiliser un </a:t>
            </a:r>
            <a:r>
              <a:rPr lang="fr-FR" b="1" dirty="0" err="1"/>
              <a:t>framework</a:t>
            </a:r>
            <a:r>
              <a:rPr lang="fr-FR" b="1" dirty="0"/>
              <a:t> Java</a:t>
            </a:r>
            <a:r>
              <a:rPr lang="fr-FR" dirty="0"/>
              <a:t> pour les tâches de </a:t>
            </a:r>
            <a:r>
              <a:rPr lang="fr-FR" b="1" dirty="0" err="1"/>
              <a:t>scraping</a:t>
            </a:r>
            <a:r>
              <a:rPr lang="fr-FR" dirty="0"/>
              <a:t> et de </a:t>
            </a:r>
            <a:r>
              <a:rPr lang="fr-FR" b="1" dirty="0"/>
              <a:t>traitement des données</a:t>
            </a:r>
            <a:r>
              <a:rPr lang="fr-FR" dirty="0"/>
              <a:t>.</a:t>
            </a:r>
          </a:p>
          <a:p>
            <a:pPr>
              <a:buFont typeface="+mj-lt"/>
              <a:buAutoNum type="arabicPeriod" startAt="5"/>
            </a:pPr>
            <a:r>
              <a:rPr lang="fr-FR" b="1" dirty="0"/>
              <a:t>Outils de visualisation</a:t>
            </a:r>
            <a:r>
              <a:rPr lang="fr-FR" dirty="0"/>
              <a:t> : Vous devrez choisir un outil pour la </a:t>
            </a:r>
            <a:r>
              <a:rPr lang="fr-FR" b="1" dirty="0"/>
              <a:t>visualisation des données</a:t>
            </a:r>
            <a:r>
              <a:rPr lang="fr-FR" dirty="0"/>
              <a:t>, parmi les options suivantes : </a:t>
            </a:r>
            <a:r>
              <a:rPr lang="fr-FR" b="1" dirty="0"/>
              <a:t>D3.js, Excel ou </a:t>
            </a:r>
            <a:r>
              <a:rPr lang="fr-FR" b="1" dirty="0" err="1"/>
              <a:t>PowerBI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A1D6C43-3A40-9140-03D3-E5BFAE9A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Consigne Pour la Pondération des notes - Important</a:t>
            </a:r>
          </a:p>
        </p:txBody>
      </p:sp>
    </p:spTree>
    <p:extLst>
      <p:ext uri="{BB962C8B-B14F-4D97-AF65-F5344CB8AC3E}">
        <p14:creationId xmlns:p14="http://schemas.microsoft.com/office/powerpoint/2010/main" val="28281325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1832</TotalTime>
  <Words>1004</Words>
  <Application>Microsoft Office PowerPoint</Application>
  <PresentationFormat>Grand écran</PresentationFormat>
  <Paragraphs>208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Bebas Neue Bold</vt:lpstr>
      <vt:lpstr>Calibri</vt:lpstr>
      <vt:lpstr>Calibri Light</vt:lpstr>
      <vt:lpstr>Thème Office</vt:lpstr>
      <vt:lpstr>SAé3.VCOD.01 – Collecte Automatisée de données web </vt:lpstr>
      <vt:lpstr>Collectes AUTOMATISEE de DONNEE WEB – SCRaPING </vt:lpstr>
      <vt:lpstr>Scraping web</vt:lpstr>
      <vt:lpstr>Scraping web</vt:lpstr>
      <vt:lpstr>Scraping web</vt:lpstr>
      <vt:lpstr>Scraping web – Les étapes</vt:lpstr>
      <vt:lpstr>Prérequis – DOM ((Document Object Model)</vt:lpstr>
      <vt:lpstr>Prérequis – DOM ((Document Object Model)</vt:lpstr>
      <vt:lpstr>Les Librairies JAVA – Pour le scrping </vt:lpstr>
      <vt:lpstr>Avertissement – Légalité - Attention</vt:lpstr>
      <vt:lpstr>Exemple pratique de scrping avec JSOUP</vt:lpstr>
      <vt:lpstr>Projet </vt:lpstr>
      <vt:lpstr>Projet - RenDu</vt:lpstr>
      <vt:lpstr>Consigne Pour la Pondération des notes - Important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slide de démarrage</dc:title>
  <dc:creator>Jannik Laval</dc:creator>
  <cp:lastModifiedBy>NIANG Boubou Thiam</cp:lastModifiedBy>
  <cp:revision>38</cp:revision>
  <dcterms:created xsi:type="dcterms:W3CDTF">2022-07-11T07:31:46Z</dcterms:created>
  <dcterms:modified xsi:type="dcterms:W3CDTF">2025-12-17T12:40:56Z</dcterms:modified>
</cp:coreProperties>
</file>